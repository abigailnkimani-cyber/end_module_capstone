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Arial"/>
              </a:rPr>
              <a:t>Median under-5 mortality by GDP quartile (per 1,000 births)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deaths per 1,000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(lowest)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(highest)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158.1</c:v>
                </c:pt>
                <c:pt idx="1">
                  <c:v>59.2</c:v>
                </c:pt>
                <c:pt idx="2">
                  <c:v>22.6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6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OW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0F4C5C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23B"/>
          </a:solidFill>
          <a:ln w="12700">
            <a:solidFill>
              <a:srgbClr val="E8A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Income, Child Mortality and Life Expectancy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F0E6"/>
                </a:solidFill>
              </a:rPr>
              <a:t>A CRISP-DM walkthrough, from the question to the deployed app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Abigail Kimani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F0E6"/>
                </a:solidFill>
              </a:rPr>
              <a:t>Student, Zindua School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1  ·  BUSINESS UNDERSTANDING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The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1280160"/>
            <a:ext cx="3749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Do richer countries really have fewer children dying and people living longer, and has child mortality dropped since 2000?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If income and health move together, help goes to the poorest countries first. If not, funders should back immunisation and basic healthcare.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36414"/>
                </a:solidFill>
              </a:rPr>
              <a:t>MY HUNCH (BEFORE THE DATA)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18288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Richer countries have far lower child mortality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They also live longer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Child mortality has fallen in most countries since 2000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2  ·  DATA UNDERSTANDING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Four World Bank series, one skewed outcome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1280160"/>
            <a:ext cx="33832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Life expectancy, under-5 mortality, GDP per capita (current US$), population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262 countries and aggregates × 66 years (1960 to 2025), loaded and profiled one source at a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Missing values are heaviest in the early years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A few very high mortality values are genuine country-years, so I kept them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68.6 vs 37.4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514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mean vs median under-5 mortality: strongly right-skewed, so I use medians and log mortality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3  ·  DATA PREPARATION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Cleaning and joining: 17,292 rows down to 10,525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74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17,292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5740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rows per source (262 entities × 66 years)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8288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6414"/>
                </a:solidFill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78608" y="1280160"/>
            <a:ext cx="1874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17,292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88336" y="205740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after the inner join on country code + year: none lost or duplicated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8288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6414"/>
                </a:solidFill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700016" y="1280160"/>
            <a:ext cx="1874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91456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12,065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205740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rows with all four indicators present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18288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6414"/>
                </a:solidFill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821424" y="1280160"/>
            <a:ext cx="1874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12864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6414"/>
                </a:solidFill>
              </a:rPr>
              <a:t>10,525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205740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after removing aggregates: 194 countries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Missing markers became real missing values; each source was reshaped from wide to long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Incomplete rows were dropped, not filled: filling would flatten the relationships I am testing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Added log GDP and GDP per capita quartiles (four equal-sized income groups)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4  ·  MODELLING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Four hypothesis tests, matched to the question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2377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this 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Does child mortality differ across four income groups?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One-way ANOVA (log mortality)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Numeric outcome, four groups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Did mortality fall between 2000 and 2024?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Paired t-test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Same countries measured twice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Is income group linked to life expectancy of 70+?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Chi-square (2024)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Two categorical variables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Do richer and poorer halves differ in meeting the UN target?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Two-proportion Z-test (2024)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A/B-style comparison of two groups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</a:rPr>
              <a:t>α = 0.05. H0 and H1 were written before each test was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5  ·  EVALUATION  ·  TEST 1 OF 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ANOVA: child mortality across income groups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HYPOTHESES (BEFORE RUNNING)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</a:rPr>
              <a:t>H0: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mean log child mortality is the same in all four GDP quartiles.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</a:rPr>
              <a:t>H1: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at least one quartile has a different mean.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2606D"/>
                </a:solidFill>
              </a:rPr>
              <a:t>One-way ANOVA on log mortality: numeric outcome, four groups. All 10,525 rows.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RESULT (α = 0.05)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η² = 0.73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F(3, 10521) = 9,557.7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p &lt; 0.001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Median per 1,000: 158.1, 59.2, 22.6, 8.0 (Q1 to Q4)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</a:rPr>
              <a:t>Reject H0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221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6414"/>
                </a:solidFill>
              </a:rPr>
              <a:t>WHAT THE P-VALUE DOES NOT MEAN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It is not the probability that H0 is true or that the result is due to chance, and it does not give the size: that comes from η² and the medians. Countries repeat across years, so it looks more certain than it is. It is not proof of causation.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5  ·  EVALUATION  ·  TEST 2 OF 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Paired t-test: child mortality, 2000 vs 2024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HYPOTHESES (BEFORE RUNNING)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</a:rPr>
              <a:t>H0: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the mean change in log child mortality between 2000 and 2024 is zero.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</a:rPr>
              <a:t>H1: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the mean change is not zero.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2606D"/>
                </a:solidFill>
              </a:rPr>
              <a:t>Paired t-test on log mortality: the same 186 countries measured twice.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RESULT (α = 0.05)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d = 1.75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t(185) = 23.8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p = 2.64e-58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97% of countries fell; 2024 is about 46% of 2000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</a:rPr>
              <a:t>Reject H0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221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6414"/>
                </a:solidFill>
              </a:rPr>
              <a:t>WHAT THE P-VALUE DOES NOT MEAN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It is not the probability that H0 is true or that the fall happened by chance. It says nothing about why mortality fell, and the size comes from d and the 97%, not from the p-value. Only countries with data in both years are included.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5  ·  EVALUATION  ·  TEST 3 OF 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Chi-square: income group and life expectancy of 70+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HYPOTHESES (BEFORE RUNNING)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</a:rPr>
              <a:t>H0: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GDP quartile and life expectancy category (70+ vs under 70) are independent.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</a:rPr>
              <a:t>H1: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they are associated.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2606D"/>
                </a:solidFill>
              </a:rPr>
              <a:t>Chi-square test of independence, 2024 only: 188 countries, each counted once.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RESULT (α = 0.05)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V = 0.72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χ²(3) = 97.1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p = 6.39e-21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Reach 70: 13%, 68%, 89%, 100% (Q1 to Q4)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</a:rPr>
              <a:t>Reject H0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221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6414"/>
                </a:solidFill>
              </a:rPr>
              <a:t>WHAT THE P-VALUE DOES NOT MEAN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It is not the probability that H0 is true or that the association is due to chance, and it does not say how strong it is: Cramér's V and the shares do. It does not say which quartiles differ or that income causes longer life. The 70-year cutoff loses detail.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5  ·  EVALUATION  ·  TEST 4 OF 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A/B-style Z-test: richer vs poorer half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HYPOTHESES (BEFORE RUNNING)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</a:rPr>
              <a:t>H0: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the share of countries meeting the UN target is the same in both halves.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</a:rPr>
              <a:t>H1: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3"/>
                </a:solidFill>
              </a:rPr>
              <a:t>the shares differ.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2606D"/>
                </a:solidFill>
              </a:rPr>
              <a:t>Two-proportion Z-test, 2024: below vs above median GDP, 94 countries each. Target: 25 or fewer under-5 deaths per 1,000.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RESULT (α = 0.05)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54 pts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39% vs 94% meet the target (95% CI 43 to 65)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z = 7.88, p = 3.27e-15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Fisher check: p = 4.59e-16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</a:rPr>
              <a:t>Reject H0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221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6414"/>
                </a:solidFill>
              </a:rPr>
              <a:t>WHAT THE P-VALUE DOES NOT MEAN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It is not the probability that H0 is true or that the gap is due to chance, and it does not give the gap's size. Groups were not randomly assigned, so a significant result shows the groups differ. It does not by itself prove that income caused the difference, the way a randomized A/B test could.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5  ·  EVALUATION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All four tests reject H0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ANOVA: CHILD MORTALITY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η² = 0.73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F(3, 10521) = 9,557.7, p &lt; 0.001. Median 158 → 8 per 1,000 from lowest to highest quartile.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PAIRED T-TEST: 2000 vs 2024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97%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of countries fell; 2024 is about 46% of 2000. t(185) = 23.8, p = 2.64e-58, d = 1.75.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CHI-SQUARE: LIFE EXPECTANCY 70+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91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V = 0.72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291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13% of lowest-quartile countries reach 70, vs 100% of the highest. χ²(3) = 97.1, p = 6.39e-21.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A/B Z-TEST: RICHER vs POORER HALF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91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54 pts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91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39% vs 94% meet the target (95% CI 43 to 65). z = 7.88, p = 3.27e-15.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</a:rPr>
              <a:t>A p-value is not the probability that H0 is true, and it does not measure effect size or prove causation.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6414"/>
                </a:solidFill>
              </a:rPr>
              <a:t>6  ·  DEPLOYMENT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What it means, and what to do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280160"/>
            <a:ext cx="33832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36414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78308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Prioritise the lowest-income quartile: median 158 vs 8 deaths per 1,000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Do not rely on growth alone: mortality fell in 97% of countries, yet the poorest still lag, which supports health programmes like immunisation and primary care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Caution: these are associations, and the groups were not randomly assigned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1097280" cy="54864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Questions &amp; answers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9E2E7"/>
                </a:solidFill>
              </a:rPr>
              <a:t>The data and how I cleaned and joined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9E2E7"/>
                </a:solidFill>
              </a:rPr>
              <a:t>Why these four tests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9E2E7"/>
                </a:solidFill>
              </a:rPr>
              <a:t>What the results do and do not show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Abigail Kimani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Income, Child Mortality and Life Expectancy: the CRISP-DM flow</dc:title>
  <dc:subject>PptxGenJS Presentation</dc:subject>
  <dc:creator>PptxGenJS</dc:creator>
  <cp:lastModifiedBy>PptxGenJS</cp:lastModifiedBy>
  <cp:revision>1</cp:revision>
  <dcterms:created xsi:type="dcterms:W3CDTF">2026-10-11T10:40:32Z</dcterms:created>
  <dcterms:modified xsi:type="dcterms:W3CDTF">2026-10-11T10:40:32Z</dcterms:modified>
</cp:coreProperties>
</file>